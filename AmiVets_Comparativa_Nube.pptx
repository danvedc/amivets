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AmiVets consume 7,7 ms de CPU por petición (medido). Con 50 usuarios usa 0,12 núcleos: el procesador nunca es el límite. Lo que decide el costo es el precio del almacenamiento de imágenes médicas.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AmiVets · Comparativa de costos en la nube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neto mensual en dólares, según el tamaño de la clínica · precios de julio de 2026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1872"/>
          <a:ext cx="112471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755648"/>
                <a:gridCol w="1755648"/>
                <a:gridCol w="1755648"/>
                <a:gridCol w="1755648"/>
                <a:gridCol w="1755648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Consultorio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Clínica pequeña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Clínica mediana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veterinario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Cadena / sucursales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veterinario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usuarios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veterinarios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usuarios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veterinarios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usuarios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veterinarios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usuarios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veterinarios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usuarios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VPS autogestionado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7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7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7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7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7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DigitalOcean + objetos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DigitalOcean en disco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9684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volumen de datos maneja cada escenario, a cinco años</a:t>
            </a:r>
            <a:endParaRPr lang="en-US" sz="14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15968"/>
          <a:ext cx="112471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755648"/>
                <a:gridCol w="1755648"/>
                <a:gridCol w="1755648"/>
                <a:gridCol w="1755648"/>
                <a:gridCol w="1755648"/>
              </a:tblGrid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Mascotas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datos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Imágenes médicas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Consultorio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09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Clínica pequeña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09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Clínica mediana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09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veterinario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25.185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447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09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Cadena / sucursales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52.470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525.000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931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09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287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670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radiografías y ecografías son casi todo el disco: la base de datos nunca pasa de 1 GB, pero las imágenes llegan a 287 GB. Quien cobre barato el almacenamiento gana la comparación.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y desventajas de cada opción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59536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gana y qué se sacrifica · el rango cubre de 1 a 25 veterinarios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2157984" cy="5074920"/>
          </a:xfrm>
          <a:prstGeom prst="roundRect">
            <a:avLst>
              <a:gd name="adj" fmla="val 3814"/>
            </a:avLst>
          </a:prstGeom>
          <a:solidFill>
            <a:srgbClr val="F1F8F5"/>
          </a:solidFill>
          <a:ln w="12700">
            <a:solidFill>
              <a:srgbClr val="D9E8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98448"/>
            <a:ext cx="2157984" cy="896112"/>
          </a:xfrm>
          <a:prstGeom prst="roundRect">
            <a:avLst>
              <a:gd name="adj" fmla="val 9184"/>
            </a:avLst>
          </a:prstGeom>
          <a:solidFill>
            <a:srgbClr val="1E7A4C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35331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autogestionado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85216" y="170078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Hetzner, Contabo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85216" y="1901952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 – $45 / mes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" y="230428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FAVOR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03504" y="2523744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5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más barato en todos los escenarios, y la ventaja crece con el tamaño.</a:t>
            </a:r>
            <a:endParaRPr lang="en-US" sz="850" dirty="0"/>
          </a:p>
          <a:p>
            <a:pPr marL="342900" indent="-342900">
              <a:lnSpc>
                <a:spcPts val="105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 adicional muy económico: cinco centavos por giga.</a:t>
            </a:r>
            <a:endParaRPr lang="en-US" sz="850" dirty="0"/>
          </a:p>
          <a:p>
            <a:pPr marL="342900" indent="-342900">
              <a:lnSpc>
                <a:spcPts val="105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total del servidor y de las historias clínicas.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03504" y="396849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CONTRA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03504" y="4187952"/>
            <a:ext cx="1883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5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Ustedes instalan y mantienen PostgreSQL.</a:t>
            </a:r>
            <a:endParaRPr lang="en-US" sz="850" dirty="0"/>
          </a:p>
          <a:p>
            <a:pPr marL="342900" indent="-342900">
              <a:lnSpc>
                <a:spcPts val="105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Respaldos y parches por su cuenta.</a:t>
            </a:r>
            <a:endParaRPr lang="en-US" sz="850" dirty="0"/>
          </a:p>
          <a:p>
            <a:pPr marL="342900" indent="-342900">
              <a:lnSpc>
                <a:spcPts val="105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panel: todo por línea de comandos.</a:t>
            </a:r>
            <a:endParaRPr lang="en-US" sz="850" dirty="0"/>
          </a:p>
          <a:p>
            <a:pPr marL="342900" indent="-342900">
              <a:lnSpc>
                <a:spcPts val="105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falla un sábado de guardia, lo levantan ustedes.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3504" y="5760720"/>
            <a:ext cx="1865376" cy="10973"/>
          </a:xfrm>
          <a:prstGeom prst="rect">
            <a:avLst/>
          </a:prstGeom>
          <a:solidFill>
            <a:srgbClr val="D9E8E1"/>
          </a:solidFill>
          <a:ln w="12700">
            <a:solidFill>
              <a:srgbClr val="D9E8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5852160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alguien que maneje Linux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0" y="1298448"/>
            <a:ext cx="2157984" cy="5074920"/>
          </a:xfrm>
          <a:prstGeom prst="roundRect">
            <a:avLst>
              <a:gd name="adj" fmla="val 3814"/>
            </a:avLst>
          </a:prstGeom>
          <a:solidFill>
            <a:srgbClr val="F1F8F5"/>
          </a:solidFill>
          <a:ln w="12700">
            <a:solidFill>
              <a:srgbClr val="D9E8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1298448"/>
            <a:ext cx="2157984" cy="896112"/>
          </a:xfrm>
          <a:prstGeom prst="roundRect">
            <a:avLst>
              <a:gd name="adj" fmla="val 9184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71216" y="135331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DigitalOcean + objetos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871216" y="170078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en Spaces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871216" y="1901952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 – $69 / mes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89504" y="230428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FAVOR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889504" y="2523744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5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imágenes van a un almacén que cuesta dos centavos por giga.</a:t>
            </a:r>
            <a:endParaRPr lang="en-US" sz="850" dirty="0"/>
          </a:p>
          <a:p>
            <a:pPr marL="342900" indent="-342900">
              <a:lnSpc>
                <a:spcPts val="105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gestionado: respaldos y parches incluidos.</a:t>
            </a:r>
            <a:endParaRPr lang="en-US" sz="850" dirty="0"/>
          </a:p>
          <a:p>
            <a:pPr marL="342900" indent="-342900">
              <a:lnSpc>
                <a:spcPts val="105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sin sobresaltos: de 1 a 25 veterinarios solo sube 34 dólares.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889504" y="396849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CONTRA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889504" y="4187952"/>
            <a:ext cx="1883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5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que modificar el código para subir las imágenes al almacén.</a:t>
            </a:r>
            <a:endParaRPr lang="en-US" sz="850" dirty="0"/>
          </a:p>
          <a:p>
            <a:pPr marL="342900" indent="-342900">
              <a:lnSpc>
                <a:spcPts val="105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servicios que configurar en vez de uno.</a:t>
            </a:r>
            <a:endParaRPr lang="en-US" sz="850" dirty="0"/>
          </a:p>
          <a:p>
            <a:pPr marL="342900" indent="-342900">
              <a:lnSpc>
                <a:spcPts val="105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habiendo administración del servidor.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889504" y="5760720"/>
            <a:ext cx="1865376" cy="10973"/>
          </a:xfrm>
          <a:prstGeom prst="rect">
            <a:avLst/>
          </a:prstGeom>
          <a:solidFill>
            <a:srgbClr val="D9E8E1"/>
          </a:solidFill>
          <a:ln w="12700">
            <a:solidFill>
              <a:srgbClr val="D9E8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9504" y="5852160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mejor relación precio-tranquilidad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29200" y="1298448"/>
            <a:ext cx="2157984" cy="5074920"/>
          </a:xfrm>
          <a:prstGeom prst="roundRect">
            <a:avLst>
              <a:gd name="adj" fmla="val 3814"/>
            </a:avLst>
          </a:prstGeom>
          <a:solidFill>
            <a:srgbClr val="F1F8F5"/>
          </a:solidFill>
          <a:ln w="12700">
            <a:solidFill>
              <a:srgbClr val="D9E8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1298448"/>
            <a:ext cx="2157984" cy="896112"/>
          </a:xfrm>
          <a:prstGeom prst="roundRect">
            <a:avLst>
              <a:gd name="adj" fmla="val 9184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57216" y="135331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DigitalOcean en disco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157216" y="170078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 un volumen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157216" y="1901952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 – $92 / mes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75504" y="230428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FAVOR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175504" y="2523744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5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cambios en el código: las imágenes se guardan como ahora.</a:t>
            </a:r>
            <a:endParaRPr lang="en-US" sz="850" dirty="0"/>
          </a:p>
          <a:p>
            <a:pPr marL="342900" indent="-342900">
              <a:lnSpc>
                <a:spcPts val="105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lugar donde está todo.</a:t>
            </a:r>
            <a:endParaRPr lang="en-US" sz="850" dirty="0"/>
          </a:p>
          <a:p>
            <a:pPr marL="342900" indent="-342900">
              <a:lnSpc>
                <a:spcPts val="105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gestionado incluido.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175504" y="396849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CONTRA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175504" y="4187952"/>
            <a:ext cx="1883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5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disco de bloque cuesta diez centavos por giga: cinco veces más que el almacén de objetos.</a:t>
            </a:r>
            <a:endParaRPr lang="en-US" sz="850" dirty="0"/>
          </a:p>
          <a:p>
            <a:pPr marL="342900" indent="-342900">
              <a:lnSpc>
                <a:spcPts val="105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cadena de 25 veterinarios cuesta 23 dólares más al mes que la opción anterior.</a:t>
            </a:r>
            <a:endParaRPr lang="en-US" sz="850" dirty="0"/>
          </a:p>
          <a:p>
            <a:pPr marL="342900" indent="-342900">
              <a:lnSpc>
                <a:spcPts val="105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crece rápido con las imágenes.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175504" y="5760720"/>
            <a:ext cx="1865376" cy="10973"/>
          </a:xfrm>
          <a:prstGeom prst="rect">
            <a:avLst/>
          </a:prstGeom>
          <a:solidFill>
            <a:srgbClr val="D9E8E1"/>
          </a:solidFill>
          <a:ln w="12700">
            <a:solidFill>
              <a:srgbClr val="D9E8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75504" y="5852160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quieren tocar el código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315200" y="1298448"/>
            <a:ext cx="2157984" cy="5074920"/>
          </a:xfrm>
          <a:prstGeom prst="roundRect">
            <a:avLst>
              <a:gd name="adj" fmla="val 3814"/>
            </a:avLst>
          </a:prstGeom>
          <a:solidFill>
            <a:srgbClr val="F1F8F5"/>
          </a:solidFill>
          <a:ln w="12700">
            <a:solidFill>
              <a:srgbClr val="D9E8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00" y="1298448"/>
            <a:ext cx="2157984" cy="896112"/>
          </a:xfrm>
          <a:prstGeom prst="roundRect">
            <a:avLst>
              <a:gd name="adj" fmla="val 9184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43216" y="135331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443216" y="170078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apunta hoy el proyecto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443216" y="1901952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 – $199 / mes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461504" y="230428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FAVOR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461504" y="2523744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5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despliegue más simple: lee el Dockerfile y publica solo.</a:t>
            </a:r>
            <a:endParaRPr lang="en-US" sz="850" dirty="0"/>
          </a:p>
          <a:p>
            <a:pPr marL="342900" indent="-342900">
              <a:lnSpc>
                <a:spcPts val="105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HTTPS y dominio automáticos.</a:t>
            </a:r>
            <a:endParaRPr lang="en-US" sz="850" dirty="0"/>
          </a:p>
          <a:p>
            <a:pPr marL="342900" indent="-342900">
              <a:lnSpc>
                <a:spcPts val="105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probar y demostrar.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461504" y="396849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CONTRA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461504" y="4187952"/>
            <a:ext cx="1883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5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disco cuesta 25 centavos por giga: el más caro de todos.</a:t>
            </a:r>
            <a:endParaRPr lang="en-US" sz="850" dirty="0"/>
          </a:p>
          <a:p>
            <a:pPr marL="342900" indent="-342900">
              <a:lnSpc>
                <a:spcPts val="105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cadena cuesta 199 dólares, casi cuatro veces el VPS.</a:t>
            </a:r>
            <a:endParaRPr lang="en-US" sz="850" dirty="0"/>
          </a:p>
          <a:p>
            <a:pPr marL="342900" indent="-342900">
              <a:lnSpc>
                <a:spcPts val="105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gratuito de PostgreSQL caduca a los 30 días.</a:t>
            </a:r>
            <a:endParaRPr lang="en-US" sz="850" dirty="0"/>
          </a:p>
          <a:p>
            <a:pPr marL="342900" indent="-342900">
              <a:lnSpc>
                <a:spcPts val="105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servicios gratuitos se apagan tras 15 minutos sin uso.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461504" y="5760720"/>
            <a:ext cx="1865376" cy="10973"/>
          </a:xfrm>
          <a:prstGeom prst="rect">
            <a:avLst/>
          </a:prstGeom>
          <a:solidFill>
            <a:srgbClr val="D9E8E1"/>
          </a:solidFill>
          <a:ln w="12700">
            <a:solidFill>
              <a:srgbClr val="D9E8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61504" y="5852160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demostraciones, no para producción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9601200" y="1298448"/>
            <a:ext cx="2157984" cy="5074920"/>
          </a:xfrm>
          <a:prstGeom prst="roundRect">
            <a:avLst>
              <a:gd name="adj" fmla="val 3814"/>
            </a:avLst>
          </a:prstGeom>
          <a:solidFill>
            <a:srgbClr val="F1F8F5"/>
          </a:solidFill>
          <a:ln w="12700">
            <a:solidFill>
              <a:srgbClr val="D9E8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601200" y="1298448"/>
            <a:ext cx="2157984" cy="896112"/>
          </a:xfrm>
          <a:prstGeom prst="roundRect">
            <a:avLst>
              <a:gd name="adj" fmla="val 9184"/>
            </a:avLst>
          </a:prstGeom>
          <a:solidFill>
            <a:srgbClr val="E09B3D"/>
          </a:solidFill>
          <a:ln w="12700">
            <a:solidFill>
              <a:srgbClr val="E09B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729216" y="135331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9729216" y="170078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+ RDS + S3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9729216" y="1901952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 – $72 / mes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9747504" y="230428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FAVOR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9747504" y="2523744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5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es barato para las imágenes: dos centavos por giga.</a:t>
            </a:r>
            <a:endParaRPr lang="en-US" sz="850" dirty="0"/>
          </a:p>
          <a:p>
            <a:pPr marL="342900" indent="-342900">
              <a:lnSpc>
                <a:spcPts val="105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sin techo y con certificaciones.</a:t>
            </a:r>
            <a:endParaRPr lang="en-US" sz="850" dirty="0"/>
          </a:p>
          <a:p>
            <a:pPr marL="342900" indent="-342900">
              <a:lnSpc>
                <a:spcPts val="105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Competitivo en todos los escenarios.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9747504" y="396849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CONTRA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9747504" y="4187952"/>
            <a:ext cx="1883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5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compleja y difícil de anticipar.</a:t>
            </a:r>
            <a:endParaRPr lang="en-US" sz="850" dirty="0"/>
          </a:p>
          <a:p>
            <a:pPr marL="342900" indent="-342900">
              <a:lnSpc>
                <a:spcPts val="105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transferencia de datos se cobra aparte.</a:t>
            </a:r>
            <a:endParaRPr lang="en-US" sz="850" dirty="0"/>
          </a:p>
          <a:p>
            <a:pPr marL="342900" indent="-342900">
              <a:lnSpc>
                <a:spcPts val="105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conocimiento especializado.</a:t>
            </a:r>
            <a:endParaRPr lang="en-US" sz="850" dirty="0"/>
          </a:p>
          <a:p>
            <a:pPr marL="342900" indent="-342900">
              <a:lnSpc>
                <a:spcPts val="105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1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servicios distintos que configurar.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9747504" y="5760720"/>
            <a:ext cx="1865376" cy="10973"/>
          </a:xfrm>
          <a:prstGeom prst="rect">
            <a:avLst/>
          </a:prstGeom>
          <a:solidFill>
            <a:srgbClr val="D9E8E1"/>
          </a:solidFill>
          <a:ln w="12700">
            <a:solidFill>
              <a:srgbClr val="D9E8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747504" y="5852160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si un cliente lo exige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2026-08-07T08:23:43Z</dcterms:created>
  <dcterms:modified xsi:type="dcterms:W3CDTF">2026-08-07T08:23:43Z</dcterms:modified>
</cp:coreProperties>
</file>